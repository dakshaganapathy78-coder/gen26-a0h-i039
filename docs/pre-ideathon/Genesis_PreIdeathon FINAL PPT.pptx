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45FE6B-0D54-4AB7-B15E-3C283DB800E6}" v="3" dt="2026-10-09T17:37:18.8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kshatha G" userId="80d13ffb0ce2b3e6" providerId="LiveId" clId="{20AC1D55-A208-49C7-A71C-2FC0BEF96A6F}"/>
    <pc:docChg chg="undo custSel modSld">
      <pc:chgData name="Dakshatha G" userId="80d13ffb0ce2b3e6" providerId="LiveId" clId="{20AC1D55-A208-49C7-A71C-2FC0BEF96A6F}" dt="2026-10-09T17:37:18.874" v="2" actId="21"/>
      <pc:docMkLst>
        <pc:docMk/>
      </pc:docMkLst>
      <pc:sldChg chg="modSp mod">
        <pc:chgData name="Dakshatha G" userId="80d13ffb0ce2b3e6" providerId="LiveId" clId="{20AC1D55-A208-49C7-A71C-2FC0BEF96A6F}" dt="2026-10-09T17:37:18.874" v="2" actId="21"/>
        <pc:sldMkLst>
          <pc:docMk/>
          <pc:sldMk cId="0" sldId="259"/>
        </pc:sldMkLst>
        <pc:spChg chg="mod">
          <ac:chgData name="Dakshatha G" userId="80d13ffb0ce2b3e6" providerId="LiveId" clId="{20AC1D55-A208-49C7-A71C-2FC0BEF96A6F}" dt="2026-10-09T17:36:19.685" v="0" actId="1076"/>
          <ac:spMkLst>
            <pc:docMk/>
            <pc:sldMk cId="0" sldId="259"/>
            <ac:spMk id="9" creationId="{00000000-0000-0000-0000-000000000000}"/>
          </ac:spMkLst>
        </pc:spChg>
        <pc:spChg chg="mod">
          <ac:chgData name="Dakshatha G" userId="80d13ffb0ce2b3e6" providerId="LiveId" clId="{20AC1D55-A208-49C7-A71C-2FC0BEF96A6F}" dt="2026-10-09T17:37:18.874" v="2" actId="21"/>
          <ac:spMkLst>
            <pc:docMk/>
            <pc:sldMk cId="0" sldId="259"/>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321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a:solidFill>
                  <a:schemeClr val="accent6"/>
                </a:solidFill>
              </a:rPr>
              <a:t>Genesis Ideathon – Pre-Ideathon Template</a:t>
            </a:r>
            <a:endParaRPr lang="en-US" sz="105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a:solidFill>
                  <a:schemeClr val="tx2"/>
                </a:solidFill>
                <a:latin typeface="Cambria" pitchFamily="34" charset="0"/>
                <a:ea typeface="Cambria" pitchFamily="34" charset="-122"/>
                <a:cs typeface="Cambria" pitchFamily="34" charset="-120"/>
              </a:rPr>
              <a:t>SLIDE TITLE</a:t>
            </a:r>
            <a:endParaRPr lang="en-US" sz="24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a:solidFill>
                  <a:schemeClr val="accent3"/>
                </a:solidFill>
              </a:rPr>
              <a:t>PRE-IDEATHON TEMPLATE</a:t>
            </a:r>
            <a:endParaRPr lang="en-US" sz="120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a:solidFill>
                  <a:schemeClr val="bg1"/>
                </a:solidFill>
                <a:latin typeface="Cambria" pitchFamily="34" charset="0"/>
                <a:ea typeface="Cambria" pitchFamily="34" charset="-122"/>
                <a:cs typeface="Cambria" pitchFamily="34" charset="-120"/>
              </a:rPr>
              <a:t>GENESIS</a:t>
            </a:r>
            <a:endParaRPr lang="en-US" sz="5400"/>
          </a:p>
          <a:p>
            <a:pPr marL="0" indent="0">
              <a:lnSpc>
                <a:spcPct val="90000"/>
              </a:lnSpc>
              <a:buNone/>
            </a:pPr>
            <a:r>
              <a:rPr lang="en-US" sz="5400" b="1" kern="0" spc="200">
                <a:solidFill>
                  <a:schemeClr val="accent3"/>
                </a:solidFill>
                <a:latin typeface="Cambria" pitchFamily="34" charset="0"/>
                <a:ea typeface="Cambria" pitchFamily="34" charset="-122"/>
                <a:cs typeface="Cambria" pitchFamily="34" charset="-120"/>
              </a:rPr>
              <a:t>IDEATHON</a:t>
            </a:r>
            <a:endParaRPr lang="en-US" sz="540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a:solidFill>
                  <a:schemeClr val="bg1"/>
                </a:solidFill>
              </a:rPr>
              <a:t>TEAM &amp; DOMAIN</a:t>
            </a:r>
            <a:endParaRPr lang="en-US" sz="130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a:solidFill>
                  <a:schemeClr val="accent6"/>
                </a:solidFill>
              </a:rPr>
              <a:t>Introduce your team and the domain you have chosen</a:t>
            </a:r>
            <a:endParaRPr lang="en-US" sz="1600"/>
          </a:p>
        </p:txBody>
      </p:sp>
      <p:sp>
        <p:nvSpPr>
          <p:cNvPr id="15" name="Cover Fields"/>
          <p:cNvSpPr txBox="1"/>
          <p:nvPr/>
        </p:nvSpPr>
        <p:spPr>
          <a:xfrm>
            <a:off x="548639" y="3703320"/>
            <a:ext cx="9500429"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a:solidFill>
                  <a:schemeClr val="bg1"/>
                </a:solidFill>
              </a:rPr>
              <a:t>Team Name –AUREZ</a:t>
            </a:r>
            <a:endParaRPr lang="en-US" sz="1800"/>
          </a:p>
          <a:p>
            <a:pPr marL="279400" indent="-279400">
              <a:spcAft>
                <a:spcPts val="1400"/>
              </a:spcAft>
              <a:buClr>
                <a:schemeClr val="accent3"/>
              </a:buClr>
              <a:buSzPct val="100000"/>
              <a:buChar char="•"/>
            </a:pPr>
            <a:r>
              <a:rPr lang="en-US" sz="1800">
                <a:solidFill>
                  <a:schemeClr val="bg1"/>
                </a:solidFill>
              </a:rPr>
              <a:t>Team Members –CB.AC.U4DES25003,CB.AC.U4DES25004,CB.U4DES25005,CB.ACU4DES25007</a:t>
            </a:r>
            <a:endParaRPr lang="en-US" sz="1800"/>
          </a:p>
          <a:p>
            <a:pPr marL="279400" indent="-279400">
              <a:spcAft>
                <a:spcPts val="1400"/>
              </a:spcAft>
              <a:buClr>
                <a:schemeClr val="accent3"/>
              </a:buClr>
              <a:buSzPct val="100000"/>
              <a:buChar char="•"/>
            </a:pPr>
            <a:r>
              <a:rPr lang="en-US" sz="1800">
                <a:solidFill>
                  <a:schemeClr val="bg1"/>
                </a:solidFill>
              </a:rPr>
              <a:t>Selected Domain –6</a:t>
            </a:r>
            <a:endParaRPr lang="en-US" sz="1800"/>
          </a:p>
          <a:p>
            <a:pPr marL="279400" indent="-279400">
              <a:spcAft>
                <a:spcPts val="1400"/>
              </a:spcAft>
              <a:buClr>
                <a:schemeClr val="accent3"/>
              </a:buClr>
              <a:buSzPct val="100000"/>
              <a:buChar char="•"/>
            </a:pPr>
            <a:r>
              <a:rPr lang="en-US" sz="1800">
                <a:solidFill>
                  <a:schemeClr val="bg1"/>
                </a:solidFill>
              </a:rPr>
              <a:t>Problem Statement –</a:t>
            </a:r>
            <a:r>
              <a:rPr lang="en-US">
                <a:solidFill>
                  <a:schemeClr val="bg1"/>
                </a:solidFill>
              </a:rPr>
              <a:t>Standard architectural hardware (door pulls, cabinet handles, window latches) presents a massive barrier in healthcare facilities and homes for individuals suffering from severe arthritis, motor disabilities, or tremors. Traditional safety-oriented accessibility hardware looks sterile, cold, and highly institutional, which negatively impacts a patient's mental well-being and sense of dignity.</a:t>
            </a:r>
            <a:endParaRPr 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DOMAIN PROBLEM IN OUR WORDS</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pPr marL="0" indent="0">
              <a:buNone/>
            </a:pPr>
            <a:r>
              <a:rPr lang="en-US" sz="1500" b="1">
                <a:solidFill>
                  <a:schemeClr val="accent1"/>
                </a:solidFill>
              </a:rPr>
              <a:t>Your Team Name</a:t>
            </a:r>
            <a:endParaRPr lang="en-US" sz="90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Explain the problem in your domain simply, in your own words</a:t>
            </a:r>
            <a:endParaRPr lang="en-US" sz="180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a:t>Standard door handles and cabinet knobs are too hard to use. People with hand pain, tremors, or weak muscles cannot grip or twist them. We need to create elegant interior handles that open easily with a simple push of an arm or elbow, requiring zero hand grip.</a:t>
            </a:r>
            <a:endParaRPr lang="en-US" sz="1800"/>
          </a:p>
          <a:p>
            <a:pPr marL="279400" indent="-279400">
              <a:spcAft>
                <a:spcPts val="1000"/>
              </a:spcAft>
              <a:buClr>
                <a:schemeClr val="accent1"/>
              </a:buClr>
              <a:buSzPct val="100000"/>
              <a:buChar char="•"/>
            </a:pPr>
            <a:r>
              <a:rPr lang="en-US"/>
              <a:t>It gives people their independence and dignity back. No one should feel trapped in a room or unable to open a kitchen cabinet in their own home. By making these handles look like beautiful home decor instead of ugly hospital bars, we help them move freely without feeling like patients.</a:t>
            </a:r>
            <a:endParaRPr lang="en-US" sz="18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WHO IS AFFECTED?</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pPr marL="0" indent="0">
              <a:buNone/>
            </a:pPr>
            <a:r>
              <a:rPr lang="en-US" sz="1500" b="1">
                <a:solidFill>
                  <a:schemeClr val="accent1"/>
                </a:solidFill>
              </a:rPr>
              <a:t>AUREZ</a:t>
            </a:r>
            <a:endParaRPr lang="en-US" sz="90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Target users, stakeholders, beneficiaries</a:t>
            </a:r>
            <a:endParaRPr lang="en-US" sz="180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a:t>Primary users: People with arthritis, tremors, motor disabilities, and reduced grip strength.</a:t>
            </a:r>
          </a:p>
          <a:p>
            <a:pPr marL="279400" indent="-279400">
              <a:spcAft>
                <a:spcPts val="1000"/>
              </a:spcAft>
              <a:buClr>
                <a:schemeClr val="accent1"/>
              </a:buClr>
              <a:buSzPct val="100000"/>
              <a:buChar char="•"/>
            </a:pPr>
            <a:endParaRPr lang="en-US"/>
          </a:p>
          <a:p>
            <a:pPr marL="279400" indent="-279400">
              <a:spcAft>
                <a:spcPts val="1000"/>
              </a:spcAft>
              <a:buClr>
                <a:schemeClr val="accent1"/>
              </a:buClr>
              <a:buSzPct val="100000"/>
              <a:buChar char="•"/>
            </a:pPr>
            <a:r>
              <a:rPr lang="en-US"/>
              <a:t>Secondary stakeholders: Caregivers, healthcare professionals, architects, and healthcare facility administrators.</a:t>
            </a:r>
          </a:p>
          <a:p>
            <a:pPr marL="279400" indent="-279400">
              <a:spcAft>
                <a:spcPts val="1000"/>
              </a:spcAft>
              <a:buClr>
                <a:schemeClr val="accent1"/>
              </a:buClr>
              <a:buSzPct val="100000"/>
              <a:buChar char="•"/>
            </a:pPr>
            <a:endParaRPr lang="en-US"/>
          </a:p>
          <a:p>
            <a:pPr marL="279400" indent="-279400">
              <a:spcAft>
                <a:spcPts val="1000"/>
              </a:spcAft>
              <a:buClr>
                <a:schemeClr val="accent1"/>
              </a:buClr>
              <a:buSzPct val="100000"/>
              <a:buChar char="•"/>
            </a:pPr>
            <a:r>
              <a:rPr lang="en-US"/>
              <a:t>Who benefits: Patients, families, caregivers, and healthcare facilities through improved independence, dignity, safety, and accessibility.</a:t>
            </a:r>
            <a:endParaRPr lang="en-US" sz="18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CURRENT SITUATION &amp; CONTEXT</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pPr marL="0" indent="0">
              <a:buNone/>
            </a:pPr>
            <a:r>
              <a:rPr lang="en-US" sz="1500" b="1">
                <a:solidFill>
                  <a:schemeClr val="accent1"/>
                </a:solidFill>
              </a:rPr>
              <a:t>AUREZ</a:t>
            </a:r>
            <a:endParaRPr lang="en-US" sz="90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295400" y="1368857"/>
            <a:ext cx="9601200" cy="502920"/>
          </a:xfrm>
          <a:prstGeom prst="rect">
            <a:avLst/>
          </a:prstGeom>
          <a:noFill/>
          <a:ln/>
        </p:spPr>
        <p:txBody>
          <a:bodyPr wrap="square" lIns="0" tIns="0" rIns="0" bIns="0" rtlCol="0" anchor="ctr"/>
          <a:lstStyle/>
          <a:p>
            <a:pPr marL="0" indent="0">
              <a:buNone/>
            </a:pPr>
            <a:r>
              <a:rPr lang="en-US" sz="1800" b="1">
                <a:solidFill>
                  <a:schemeClr val="accent2"/>
                </a:solidFill>
              </a:rPr>
              <a:t>Existing scenario, background and how things work today</a:t>
            </a:r>
            <a:endParaRPr lang="en-US" sz="180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b="1"/>
              <a:t>Existing scenario and background:</a:t>
            </a:r>
            <a:r>
              <a:rPr lang="en-IN"/>
              <a:t> Standard door and cabinet hardware acts as a painful physical barrier while its sterile, hospital-like replacement strips away personal dignity.</a:t>
            </a:r>
          </a:p>
          <a:p>
            <a:pPr marL="285750" lvl="0" indent="-285750">
              <a:buFont typeface="Arial" panose="020B0604020202020204" pitchFamily="34" charset="0"/>
              <a:buChar char="•"/>
            </a:pPr>
            <a:endParaRPr lang="en-IN"/>
          </a:p>
          <a:p>
            <a:pPr marL="285750" lvl="0" indent="-285750">
              <a:buFont typeface="Arial" panose="020B0604020202020204" pitchFamily="34" charset="0"/>
              <a:buChar char="•"/>
            </a:pPr>
            <a:r>
              <a:rPr lang="en-IN" b="1"/>
              <a:t>Relevant data or facts (if available):</a:t>
            </a:r>
            <a:r>
              <a:rPr lang="en-IN"/>
              <a:t> Arthritis severely diminishes grip strength, and institutional environments are clinically proven to increase patient anxiety.</a:t>
            </a:r>
          </a:p>
          <a:p>
            <a:pPr marL="285750" lvl="0" indent="-285750">
              <a:buFont typeface="Arial" panose="020B0604020202020204" pitchFamily="34" charset="0"/>
              <a:buChar char="•"/>
            </a:pPr>
            <a:endParaRPr lang="en-IN"/>
          </a:p>
          <a:p>
            <a:pPr marL="285750" lvl="0" indent="-285750">
              <a:buFont typeface="Arial" panose="020B0604020202020204" pitchFamily="34" charset="0"/>
              <a:buChar char="•"/>
            </a:pPr>
            <a:r>
              <a:rPr lang="en-IN" b="1"/>
              <a:t>Current workflow, step by step:</a:t>
            </a:r>
            <a:r>
              <a:rPr lang="en-IN"/>
              <a:t> An individual approaches a door, experiences intense physical pain trying to grip and twist the knob, fails to open it, and is forced to sacrifice independence by asking for help.</a:t>
            </a:r>
          </a:p>
          <a:p>
            <a:pPr marL="279400" indent="-279400">
              <a:spcAft>
                <a:spcPts val="1000"/>
              </a:spcAft>
              <a:buClr>
                <a:schemeClr val="accent1"/>
              </a:buClr>
              <a:buSzPct val="100000"/>
              <a:buChar char="•"/>
            </a:pPr>
            <a:endParaRPr lang="en-US" sz="18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KEY CHALLENGES</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pPr marL="0" indent="0">
              <a:buNone/>
            </a:pPr>
            <a:r>
              <a:rPr lang="en-US" sz="1500" b="1">
                <a:solidFill>
                  <a:schemeClr val="accent1"/>
                </a:solidFill>
              </a:rPr>
              <a:t>AUREZ</a:t>
            </a:r>
            <a:endParaRPr lang="en-US" sz="90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Main difficulties, bottlenecks, root causes and consequences</a:t>
            </a:r>
            <a:endParaRPr lang="en-US" sz="180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b="1"/>
              <a:t>Main difficulties and bottlenecks:</a:t>
            </a:r>
            <a:r>
              <a:rPr lang="en-IN"/>
              <a:t> Users face agonizing physical pain operating standard knobs and endure psychological distress from sterile, clinical-looking adaptive replacements.</a:t>
            </a:r>
          </a:p>
          <a:p>
            <a:pPr marL="285750" lvl="0" indent="-285750">
              <a:buFont typeface="Arial" panose="020B0604020202020204" pitchFamily="34" charset="0"/>
              <a:buChar char="•"/>
            </a:pPr>
            <a:endParaRPr lang="en-IN"/>
          </a:p>
          <a:p>
            <a:pPr marL="285750" lvl="0" indent="-285750">
              <a:buFont typeface="Arial" panose="020B0604020202020204" pitchFamily="34" charset="0"/>
              <a:buChar char="•"/>
            </a:pPr>
            <a:r>
              <a:rPr lang="en-IN" b="1"/>
              <a:t>Root causes behind them:</a:t>
            </a:r>
            <a:r>
              <a:rPr lang="en-IN"/>
              <a:t> Traditional hardware demands high rotational wrist torque, while existing accessibility solutions prioritize medical utility over human aesthetics.</a:t>
            </a:r>
          </a:p>
          <a:p>
            <a:pPr marL="285750" lvl="0" indent="-285750">
              <a:buFont typeface="Arial" panose="020B0604020202020204" pitchFamily="34" charset="0"/>
              <a:buChar char="•"/>
            </a:pPr>
            <a:endParaRPr lang="en-IN"/>
          </a:p>
          <a:p>
            <a:pPr marL="285750" lvl="0" indent="-285750">
              <a:buFont typeface="Arial" panose="020B0604020202020204" pitchFamily="34" charset="0"/>
              <a:buChar char="•"/>
            </a:pPr>
            <a:r>
              <a:rPr lang="en-IN" b="1"/>
              <a:t>Consequences of leaving them unsolved:</a:t>
            </a:r>
            <a:r>
              <a:rPr lang="en-IN"/>
              <a:t> Vulnerable individuals entirely lose their daily physical independence, risk worsening their joint deformities, and suffer severe declines in mental dignity.</a:t>
            </a:r>
          </a:p>
          <a:p>
            <a:pPr marL="279400" indent="-279400">
              <a:spcAft>
                <a:spcPts val="1000"/>
              </a:spcAft>
              <a:buClr>
                <a:schemeClr val="accent1"/>
              </a:buClr>
              <a:buSzPct val="100000"/>
              <a:buChar char="•"/>
            </a:pPr>
            <a:endParaRPr lang="en-US" sz="18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EXISTING SOLUTIONS / APPROACHES</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pPr marL="0" indent="0">
              <a:buNone/>
            </a:pPr>
            <a:r>
              <a:rPr lang="en-US" sz="1500" b="1">
                <a:solidFill>
                  <a:schemeClr val="accent1"/>
                </a:solidFill>
              </a:rPr>
              <a:t>AUREZ</a:t>
            </a:r>
            <a:endParaRPr lang="en-US" sz="90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What is already being done, and where it falls short</a:t>
            </a:r>
            <a:endParaRPr lang="en-US" sz="180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b="1"/>
              <a:t>Existing methods, systems or alternatives:</a:t>
            </a:r>
            <a:r>
              <a:rPr lang="en-IN"/>
              <a:t> Current options include medical-grade lever handles, slip-on rubber doorknob grips, and automated smart locks.</a:t>
            </a:r>
          </a:p>
          <a:p>
            <a:pPr marL="285750" lvl="0" indent="-285750">
              <a:buFont typeface="Arial" panose="020B0604020202020204" pitchFamily="34" charset="0"/>
              <a:buChar char="•"/>
            </a:pPr>
            <a:endParaRPr lang="en-IN"/>
          </a:p>
          <a:p>
            <a:pPr marL="285750" lvl="0" indent="-285750">
              <a:buFont typeface="Arial" panose="020B0604020202020204" pitchFamily="34" charset="0"/>
              <a:buChar char="•"/>
            </a:pPr>
            <a:r>
              <a:rPr lang="en-IN" b="1"/>
              <a:t>Limitations of each:</a:t>
            </a:r>
            <a:r>
              <a:rPr lang="en-IN"/>
              <a:t> Industrial levers look cold and institutional, slip-on grips are visually ugly and wear out quickly, and smart locks are highly expensive and complex to install.</a:t>
            </a:r>
          </a:p>
          <a:p>
            <a:pPr marL="285750" lvl="0" indent="-285750">
              <a:buFont typeface="Arial" panose="020B0604020202020204" pitchFamily="34" charset="0"/>
              <a:buChar char="•"/>
            </a:pPr>
            <a:endParaRPr lang="en-IN"/>
          </a:p>
          <a:p>
            <a:pPr marL="285750" lvl="0" indent="-285750">
              <a:buFont typeface="Arial" panose="020B0604020202020204" pitchFamily="34" charset="0"/>
              <a:buChar char="•"/>
            </a:pPr>
            <a:r>
              <a:rPr lang="en-IN" b="1"/>
              <a:t>The gap they leave open (Key Challenges):</a:t>
            </a:r>
            <a:r>
              <a:rPr lang="en-IN"/>
              <a:t> There is a total lack of affordable, physically accessible hardware that blends seamlessly into a warm, dignified home aesthetic.</a:t>
            </a:r>
          </a:p>
          <a:p>
            <a:pPr marL="279400" indent="-279400">
              <a:spcAft>
                <a:spcPts val="1000"/>
              </a:spcAft>
              <a:buClr>
                <a:schemeClr val="accent1"/>
              </a:buClr>
              <a:buSzPct val="100000"/>
              <a:buChar char="•"/>
            </a:pPr>
            <a:endParaRPr lang="en-US" sz="18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PROBLEM INSIGHTS &amp; OPPORTUNITY AREAS</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pPr marL="0" indent="0">
              <a:buNone/>
            </a:pPr>
            <a:r>
              <a:rPr lang="en-US" sz="1500" b="1">
                <a:solidFill>
                  <a:schemeClr val="accent1"/>
                </a:solidFill>
              </a:rPr>
              <a:t>AUREZ</a:t>
            </a:r>
            <a:endParaRPr lang="en-US" sz="90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Resources required to solve the problem</a:t>
            </a:r>
            <a:endParaRPr lang="en-US" sz="180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b="1"/>
              <a:t>Hardware Requirements:</a:t>
            </a:r>
            <a:r>
              <a:rPr lang="en-IN"/>
              <a:t> Precision CNC machinery or 3D printers for tactile prototyping, along with high-grade, warm-touch metals or antimicrobial composites.</a:t>
            </a:r>
          </a:p>
          <a:p>
            <a:pPr marL="285750" lvl="0" indent="-285750">
              <a:buFont typeface="Arial" panose="020B0604020202020204" pitchFamily="34" charset="0"/>
              <a:buChar char="•"/>
            </a:pPr>
            <a:endParaRPr lang="en-IN"/>
          </a:p>
          <a:p>
            <a:pPr marL="285750" lvl="0" indent="-285750">
              <a:buFont typeface="Arial" panose="020B0604020202020204" pitchFamily="34" charset="0"/>
              <a:buChar char="•"/>
            </a:pPr>
            <a:r>
              <a:rPr lang="en-IN" b="1"/>
              <a:t>Software Requirements:</a:t>
            </a:r>
            <a:r>
              <a:rPr lang="en-IN"/>
              <a:t> 3D CAD </a:t>
            </a:r>
            <a:r>
              <a:rPr lang="en-IN" err="1"/>
              <a:t>modeling</a:t>
            </a:r>
            <a:r>
              <a:rPr lang="en-IN"/>
              <a:t> software (like SolidWorks or Fusion 360) and finite element analysis (FEA) tools to simulate stress and grip physics.</a:t>
            </a:r>
          </a:p>
          <a:p>
            <a:pPr marL="285750" lvl="0" indent="-285750">
              <a:buFont typeface="Arial" panose="020B0604020202020204" pitchFamily="34" charset="0"/>
              <a:buChar char="•"/>
            </a:pPr>
            <a:endParaRPr lang="en-IN"/>
          </a:p>
          <a:p>
            <a:pPr marL="285750" lvl="0" indent="-285750">
              <a:buFont typeface="Arial" panose="020B0604020202020204" pitchFamily="34" charset="0"/>
              <a:buChar char="•"/>
            </a:pPr>
            <a:r>
              <a:rPr lang="en-IN" b="1"/>
              <a:t>Other resources (Including Human Resources):</a:t>
            </a:r>
            <a:r>
              <a:rPr lang="en-IN"/>
              <a:t> Industrial designers, mechanical engineers, clinical occupational therapists for ergonomic testing, and funding for focus groups.</a:t>
            </a:r>
          </a:p>
          <a:p>
            <a:pPr marL="279400" indent="-279400">
              <a:spcAft>
                <a:spcPts val="1000"/>
              </a:spcAft>
              <a:buClr>
                <a:schemeClr val="accent1"/>
              </a:buClr>
              <a:buSzPct val="100000"/>
              <a:buChar char="•"/>
            </a:pPr>
            <a:endParaRPr lang="en-US" sz="18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INITIAL DIRECTION &amp; EXPECTED OUTCOME</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pPr marL="0" indent="0">
              <a:buNone/>
            </a:pPr>
            <a:r>
              <a:rPr lang="en-US" sz="1500" b="1">
                <a:solidFill>
                  <a:schemeClr val="accent1"/>
                </a:solidFill>
              </a:rPr>
              <a:t>AUREZ</a:t>
            </a:r>
            <a:endParaRPr lang="en-US" sz="90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What Is Your Expected Outcome?</a:t>
            </a:r>
            <a:endParaRPr lang="en-US" sz="180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IN" b="1"/>
              <a:t>What your team intends to do:</a:t>
            </a:r>
            <a:r>
              <a:rPr lang="en-IN"/>
              <a:t> Design and prototype affordable architectural door and cabinet hardware that requires zero wrist rotation and blends seamlessly into warm, residential home styling.</a:t>
            </a:r>
          </a:p>
          <a:p>
            <a:pPr marL="285750" lvl="0" indent="-285750">
              <a:buFont typeface="Arial" panose="020B0604020202020204" pitchFamily="34" charset="0"/>
              <a:buChar char="•"/>
            </a:pPr>
            <a:endParaRPr lang="en-IN"/>
          </a:p>
          <a:p>
            <a:pPr marL="285750" lvl="0" indent="-285750">
              <a:buFont typeface="Arial" panose="020B0604020202020204" pitchFamily="34" charset="0"/>
              <a:buChar char="•"/>
            </a:pPr>
            <a:r>
              <a:rPr lang="en-IN" b="1"/>
              <a:t>What you want to improve:</a:t>
            </a:r>
            <a:r>
              <a:rPr lang="en-IN"/>
              <a:t> Enhance physical leverage and grip ergonomics for individuals with joint pain while vastly upgrading the aesthetic dignity over ugly, hospital-grade equipment.</a:t>
            </a:r>
          </a:p>
          <a:p>
            <a:pPr marL="285750" lvl="0" indent="-285750">
              <a:buFont typeface="Arial" panose="020B0604020202020204" pitchFamily="34" charset="0"/>
              <a:buChar char="•"/>
            </a:pPr>
            <a:endParaRPr lang="en-IN"/>
          </a:p>
          <a:p>
            <a:pPr marL="285750" lvl="0" indent="-285750">
              <a:buFont typeface="Arial" panose="020B0604020202020204" pitchFamily="34" charset="0"/>
              <a:buChar char="•"/>
            </a:pPr>
            <a:r>
              <a:rPr lang="en-IN" b="1"/>
              <a:t>What successful improvement should you achieve:</a:t>
            </a:r>
            <a:r>
              <a:rPr lang="en-IN"/>
              <a:t> A 100% independent door-opening success rate for individuals with severe arthritis alongside a measurable lift in their emotional well-being and home satisfaction.</a:t>
            </a:r>
          </a:p>
          <a:p>
            <a:pPr marL="279400" indent="-279400">
              <a:spcAft>
                <a:spcPts val="1000"/>
              </a:spcAft>
              <a:buClr>
                <a:schemeClr val="accent1"/>
              </a:buClr>
              <a:buSzPct val="100000"/>
              <a:buChar char="•"/>
            </a:pPr>
            <a:endParaRPr lang="en-US" sz="18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TEAM CONTRIBUTION</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pPr marL="0" indent="0">
              <a:buNone/>
            </a:pPr>
            <a:r>
              <a:rPr lang="en-US" sz="1500" b="1">
                <a:solidFill>
                  <a:schemeClr val="accent1"/>
                </a:solidFill>
              </a:rPr>
              <a:t>AUREZ</a:t>
            </a:r>
            <a:endParaRPr lang="en-US" sz="90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a:solidFill>
                  <a:schemeClr val="accent2"/>
                </a:solidFill>
              </a:rPr>
              <a:t>Who will handle which part of the execution</a:t>
            </a:r>
            <a:endParaRPr lang="en-US" sz="1800"/>
          </a:p>
        </p:txBody>
      </p:sp>
      <p:graphicFrame>
        <p:nvGraphicFramePr>
          <p:cNvPr id="10" name="Team Contribution Table"/>
          <p:cNvGraphicFramePr>
            <a:graphicFrameLocks noGrp="1"/>
          </p:cNvGraphicFramePr>
          <p:nvPr>
            <p:extLst>
              <p:ext uri="{D42A27DB-BD31-4B8C-83A1-F6EECF244321}">
                <p14:modId xmlns:p14="http://schemas.microsoft.com/office/powerpoint/2010/main" val="233758511"/>
              </p:ext>
            </p:extLst>
          </p:nvPr>
        </p:nvGraphicFramePr>
        <p:xfrm>
          <a:off x="550506" y="2194560"/>
          <a:ext cx="11092549" cy="3474720"/>
        </p:xfrm>
        <a:graphic>
          <a:graphicData uri="http://schemas.openxmlformats.org/drawingml/2006/table">
            <a:tbl>
              <a:tblPr/>
              <a:tblGrid>
                <a:gridCol w="3237723">
                  <a:extLst>
                    <a:ext uri="{9D8B030D-6E8A-4147-A177-3AD203B41FA5}">
                      <a16:colId xmlns:a16="http://schemas.microsoft.com/office/drawing/2014/main" val="20000"/>
                    </a:ext>
                  </a:extLst>
                </a:gridCol>
                <a:gridCol w="2338251">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a:solidFill>
                            <a:schemeClr val="bg1"/>
                          </a:solidFill>
                          <a:latin typeface="Calibri" pitchFamily="34" charset="0"/>
                          <a:ea typeface="Calibri" pitchFamily="34" charset="-122"/>
                          <a:cs typeface="Calibri" pitchFamily="34" charset="-120"/>
                        </a:rPr>
                        <a:t>Team Member</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a:solidFill>
                            <a:schemeClr val="bg1"/>
                          </a:solidFill>
                          <a:latin typeface="Calibri" pitchFamily="34" charset="0"/>
                          <a:ea typeface="Calibri" pitchFamily="34" charset="-122"/>
                          <a:cs typeface="Calibri" pitchFamily="34" charset="-120"/>
                        </a:rPr>
                        <a:t>Role</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a:solidFill>
                            <a:schemeClr val="bg1"/>
                          </a:solidFill>
                          <a:latin typeface="Calibri" pitchFamily="34" charset="0"/>
                          <a:ea typeface="Calibri" pitchFamily="34" charset="-122"/>
                          <a:cs typeface="Calibri" pitchFamily="34" charset="-120"/>
                        </a:rPr>
                        <a:t>Responsibility in Execution</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a:solidFill>
                            <a:schemeClr val="tx1"/>
                          </a:solidFill>
                          <a:latin typeface="Calibri" pitchFamily="34" charset="0"/>
                          <a:ea typeface="Calibri" pitchFamily="34" charset="-122"/>
                          <a:cs typeface="Calibri" pitchFamily="34" charset="-120"/>
                        </a:rPr>
                        <a:t>DAKSHATHA G</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a:t>Team Leader &amp; Concept Pitcher</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a:t>Handles project coordination, slide deck presentation delivery, and keeping the team on schedule.</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a:solidFill>
                            <a:schemeClr val="tx1"/>
                          </a:solidFill>
                          <a:latin typeface="Calibri" pitchFamily="34" charset="0"/>
                          <a:ea typeface="Calibri" pitchFamily="34" charset="-122"/>
                          <a:cs typeface="Calibri" pitchFamily="34" charset="-120"/>
                        </a:rPr>
                        <a:t>JINAL R</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a:t> Concept Designer</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u="none" strike="noStrike" kern="1200">
                          <a:solidFill>
                            <a:schemeClr val="tx1"/>
                          </a:solidFill>
                          <a:effectLst/>
                          <a:latin typeface="+mn-lt"/>
                          <a:ea typeface="+mn-ea"/>
                          <a:cs typeface="+mn-cs"/>
                        </a:rPr>
                        <a:t>Handles investigating arthritis data, gathering user feedback, and defining the specific daily bottlenecks.</a:t>
                      </a:r>
                    </a:p>
                    <a:p>
                      <a:pPr marL="0" indent="0">
                        <a:buNone/>
                      </a:pP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a:solidFill>
                            <a:schemeClr val="tx1"/>
                          </a:solidFill>
                          <a:latin typeface="Calibri" pitchFamily="34" charset="0"/>
                          <a:ea typeface="Calibri" pitchFamily="34" charset="-122"/>
                          <a:cs typeface="Calibri" pitchFamily="34" charset="-120"/>
                        </a:rPr>
                        <a:t>PAVNASSRI</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a:t>User Experience &amp; Research</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u="none" strike="noStrike" kern="1200">
                          <a:solidFill>
                            <a:schemeClr val="tx1"/>
                          </a:solidFill>
                          <a:effectLst/>
                          <a:latin typeface="+mn-lt"/>
                          <a:ea typeface="+mn-ea"/>
                          <a:cs typeface="+mn-cs"/>
                        </a:rPr>
                        <a:t>Handles brainstorming the visual style, sketching ideas, and making sure the hardware looks beautiful and dignified.</a:t>
                      </a:r>
                    </a:p>
                    <a:p>
                      <a:pPr marL="0" indent="0">
                        <a:buNone/>
                      </a:pP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a:solidFill>
                            <a:schemeClr val="tx1"/>
                          </a:solidFill>
                          <a:latin typeface="Calibri" pitchFamily="34" charset="0"/>
                          <a:ea typeface="Calibri" pitchFamily="34" charset="-122"/>
                          <a:cs typeface="Calibri" pitchFamily="34" charset="-120"/>
                        </a:rPr>
                        <a:t>JAMUNA BUSETTY</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a:t>3D Modeler &amp; Renderer</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IN" sz="1400"/>
                        <a:t>Handles creating the digital 3D models and high-quality visual renderings to show exactly how the hardware works.</a:t>
                      </a:r>
                      <a:endParaRPr lang="en-US" sz="140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revision>1</cp:revision>
  <dcterms:created xsi:type="dcterms:W3CDTF">2026-10-07T15:27:40Z</dcterms:created>
  <dcterms:modified xsi:type="dcterms:W3CDTF">2026-10-09T17:37:45Z</dcterms:modified>
</cp:coreProperties>
</file>